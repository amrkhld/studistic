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Syne"/>
      <p:regular r:id="rId22"/>
      <p:bold r:id="rId23"/>
    </p:embeddedFont>
    <p:embeddedFont>
      <p:font typeface="Albert Sans"/>
      <p:regular r:id="rId24"/>
      <p:bold r:id="rId25"/>
      <p:italic r:id="rId26"/>
      <p:boldItalic r:id="rId27"/>
    </p:embeddedFont>
    <p:embeddedFont>
      <p:font typeface="Syne SemiBold"/>
      <p:regular r:id="rId28"/>
      <p:bold r:id="rId29"/>
    </p:embeddedFont>
    <p:embeddedFont>
      <p:font typeface="Syne Medium"/>
      <p:regular r:id="rId30"/>
      <p:bold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Syne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AlbertSans-regular.fntdata"/><Relationship Id="rId23" Type="http://schemas.openxmlformats.org/officeDocument/2006/relationships/font" Target="fonts/Syne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lbertSans-italic.fntdata"/><Relationship Id="rId25" Type="http://schemas.openxmlformats.org/officeDocument/2006/relationships/font" Target="fonts/AlbertSans-bold.fntdata"/><Relationship Id="rId28" Type="http://schemas.openxmlformats.org/officeDocument/2006/relationships/font" Target="fonts/SyneSemiBold-regular.fntdata"/><Relationship Id="rId27" Type="http://schemas.openxmlformats.org/officeDocument/2006/relationships/font" Target="fonts/Albert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SyneSemi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SyneMedium-bold.fntdata"/><Relationship Id="rId30" Type="http://schemas.openxmlformats.org/officeDocument/2006/relationships/font" Target="fonts/SyneMedium-regular.fntdata"/><Relationship Id="rId11" Type="http://schemas.openxmlformats.org/officeDocument/2006/relationships/slide" Target="slides/slide7.xml"/><Relationship Id="rId33" Type="http://schemas.openxmlformats.org/officeDocument/2006/relationships/font" Target="fonts/OpenSans-bold.fntdata"/><Relationship Id="rId10" Type="http://schemas.openxmlformats.org/officeDocument/2006/relationships/slide" Target="slides/slide6.xml"/><Relationship Id="rId32" Type="http://schemas.openxmlformats.org/officeDocument/2006/relationships/font" Target="fonts/OpenSans-regular.fntdata"/><Relationship Id="rId13" Type="http://schemas.openxmlformats.org/officeDocument/2006/relationships/slide" Target="slides/slide9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8.xml"/><Relationship Id="rId34" Type="http://schemas.openxmlformats.org/officeDocument/2006/relationships/font" Target="fonts/OpenSans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7ab2cd00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47ab2cd00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54dda1946d_4_2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54dda1946d_4_2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677fbad50_5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677fbad50_5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677fbad50_5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677fbad50_5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677fbad50_5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677fbad50_5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677fbad50_5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c677fbad50_5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677fbad50_5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c677fbad50_5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677fbad50_5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c677fbad50_5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677fbad50_5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c677fbad50_5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713225" y="539500"/>
            <a:ext cx="7717500" cy="9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5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389400" y="3946400"/>
            <a:ext cx="30414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 title="techstartup-osc.jpg"/>
          <p:cNvPicPr preferRelativeResize="0"/>
          <p:nvPr/>
        </p:nvPicPr>
        <p:blipFill rotWithShape="1">
          <a:blip r:embed="rId2">
            <a:alphaModFix/>
          </a:blip>
          <a:srcRect b="0" l="0" r="31124" t="3112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713225" y="3585200"/>
            <a:ext cx="77178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b="0" sz="5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713225" y="499725"/>
            <a:ext cx="1267500" cy="684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4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title="techstartup-osc1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" name="Google Shape;22;p5"/>
          <p:cNvSpPr txBox="1"/>
          <p:nvPr>
            <p:ph type="title"/>
          </p:nvPr>
        </p:nvSpPr>
        <p:spPr>
          <a:xfrm>
            <a:off x="720000" y="3644300"/>
            <a:ext cx="2955300" cy="9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4592700" y="3268312"/>
            <a:ext cx="3838200" cy="12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4589325" y="1219088"/>
            <a:ext cx="3838200" cy="12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4589325" y="646388"/>
            <a:ext cx="3838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4592700" y="2695612"/>
            <a:ext cx="3838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 title="techstartup-osc1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" name="Google Shape;2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title="techstartup-osc3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" name="Google Shape;32;p7"/>
          <p:cNvSpPr txBox="1"/>
          <p:nvPr>
            <p:ph idx="1" type="subTitle"/>
          </p:nvPr>
        </p:nvSpPr>
        <p:spPr>
          <a:xfrm>
            <a:off x="4928800" y="1475100"/>
            <a:ext cx="3501900" cy="21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811975" y="539488"/>
            <a:ext cx="4294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4" name="Google Shape;34;p7"/>
          <p:cNvSpPr/>
          <p:nvPr>
            <p:ph idx="2" type="pic"/>
          </p:nvPr>
        </p:nvSpPr>
        <p:spPr>
          <a:xfrm>
            <a:off x="1" y="1476775"/>
            <a:ext cx="4294800" cy="366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 title="techstartup-osc.jpg"/>
          <p:cNvPicPr preferRelativeResize="0"/>
          <p:nvPr/>
        </p:nvPicPr>
        <p:blipFill rotWithShape="1">
          <a:blip r:embed="rId2">
            <a:alphaModFix/>
          </a:blip>
          <a:srcRect b="0" l="0" r="31124" t="3112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" name="Google Shape;37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" name="Google Shape;40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1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713225" y="539500"/>
            <a:ext cx="6576000" cy="92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b="0" sz="6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5607575" y="3961100"/>
            <a:ext cx="2823300" cy="6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title="techstartup-osc2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713225" y="539500"/>
            <a:ext cx="36864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 sz="3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hasCustomPrompt="1" idx="2" type="title"/>
          </p:nvPr>
        </p:nvSpPr>
        <p:spPr>
          <a:xfrm>
            <a:off x="4494552" y="1951075"/>
            <a:ext cx="1013400" cy="620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/>
          <p:nvPr>
            <p:ph hasCustomPrompt="1" idx="3" type="title"/>
          </p:nvPr>
        </p:nvSpPr>
        <p:spPr>
          <a:xfrm>
            <a:off x="4494552" y="3306275"/>
            <a:ext cx="1013400" cy="620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/>
          <p:nvPr>
            <p:ph hasCustomPrompt="1" idx="4" type="title"/>
          </p:nvPr>
        </p:nvSpPr>
        <p:spPr>
          <a:xfrm>
            <a:off x="4494552" y="2628675"/>
            <a:ext cx="1013400" cy="620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hasCustomPrompt="1" idx="5" type="title"/>
          </p:nvPr>
        </p:nvSpPr>
        <p:spPr>
          <a:xfrm>
            <a:off x="4494552" y="3983875"/>
            <a:ext cx="1013400" cy="620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5559775" y="1951088"/>
            <a:ext cx="28710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5559775" y="2628688"/>
            <a:ext cx="28710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7" type="subTitle"/>
          </p:nvPr>
        </p:nvSpPr>
        <p:spPr>
          <a:xfrm>
            <a:off x="5559775" y="3306288"/>
            <a:ext cx="28710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8" type="subTitle"/>
          </p:nvPr>
        </p:nvSpPr>
        <p:spPr>
          <a:xfrm>
            <a:off x="5559775" y="3983888"/>
            <a:ext cx="28710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techstartup-osc3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4928800" y="1475100"/>
            <a:ext cx="3501900" cy="21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811975" y="539500"/>
            <a:ext cx="7618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65" name="Google Shape;65;p14"/>
          <p:cNvSpPr/>
          <p:nvPr>
            <p:ph idx="2" type="pic"/>
          </p:nvPr>
        </p:nvSpPr>
        <p:spPr>
          <a:xfrm>
            <a:off x="1" y="1476775"/>
            <a:ext cx="4294800" cy="366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techstartup-osc5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8" name="Google Shape;68;p15"/>
          <p:cNvSpPr txBox="1"/>
          <p:nvPr>
            <p:ph type="title"/>
          </p:nvPr>
        </p:nvSpPr>
        <p:spPr>
          <a:xfrm>
            <a:off x="762679" y="794675"/>
            <a:ext cx="7618500" cy="69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b="0" sz="4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85049" y="2398525"/>
            <a:ext cx="5196300" cy="19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techstartup-osc5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" name="Google Shape;72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719750" y="3509900"/>
            <a:ext cx="3286800" cy="10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subTitle"/>
          </p:nvPr>
        </p:nvSpPr>
        <p:spPr>
          <a:xfrm>
            <a:off x="5137201" y="3499275"/>
            <a:ext cx="3286800" cy="9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subTitle"/>
          </p:nvPr>
        </p:nvSpPr>
        <p:spPr>
          <a:xfrm>
            <a:off x="5137201" y="1451925"/>
            <a:ext cx="3286800" cy="9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4" type="subTitle"/>
          </p:nvPr>
        </p:nvSpPr>
        <p:spPr>
          <a:xfrm>
            <a:off x="719750" y="2708600"/>
            <a:ext cx="32868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5" type="subTitle"/>
          </p:nvPr>
        </p:nvSpPr>
        <p:spPr>
          <a:xfrm>
            <a:off x="5137201" y="2697975"/>
            <a:ext cx="32868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6" type="subTitle"/>
          </p:nvPr>
        </p:nvSpPr>
        <p:spPr>
          <a:xfrm>
            <a:off x="5137204" y="650625"/>
            <a:ext cx="32868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techstartup-osc6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" name="Google Shape;8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4" name="Google Shape;8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9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7" name="Google Shape;87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0" name="Google Shape;90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" type="subTitle"/>
          </p:nvPr>
        </p:nvSpPr>
        <p:spPr>
          <a:xfrm>
            <a:off x="715400" y="1710171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2" type="subTitle"/>
          </p:nvPr>
        </p:nvSpPr>
        <p:spPr>
          <a:xfrm>
            <a:off x="3376873" y="1710149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3" type="subTitle"/>
          </p:nvPr>
        </p:nvSpPr>
        <p:spPr>
          <a:xfrm>
            <a:off x="715400" y="3498801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4" type="subTitle"/>
          </p:nvPr>
        </p:nvSpPr>
        <p:spPr>
          <a:xfrm>
            <a:off x="3376873" y="3498797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5" type="subTitle"/>
          </p:nvPr>
        </p:nvSpPr>
        <p:spPr>
          <a:xfrm>
            <a:off x="6033621" y="1710149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6" type="subTitle"/>
          </p:nvPr>
        </p:nvSpPr>
        <p:spPr>
          <a:xfrm>
            <a:off x="6033621" y="3498797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7" type="subTitle"/>
          </p:nvPr>
        </p:nvSpPr>
        <p:spPr>
          <a:xfrm>
            <a:off x="720114" y="1017725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8" type="subTitle"/>
          </p:nvPr>
        </p:nvSpPr>
        <p:spPr>
          <a:xfrm>
            <a:off x="3381406" y="1017725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9" type="subTitle"/>
          </p:nvPr>
        </p:nvSpPr>
        <p:spPr>
          <a:xfrm>
            <a:off x="6037972" y="1017725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0" name="Google Shape;100;p20"/>
          <p:cNvSpPr txBox="1"/>
          <p:nvPr>
            <p:ph idx="13" type="subTitle"/>
          </p:nvPr>
        </p:nvSpPr>
        <p:spPr>
          <a:xfrm>
            <a:off x="720114" y="2803098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1" name="Google Shape;101;p20"/>
          <p:cNvSpPr txBox="1"/>
          <p:nvPr>
            <p:ph idx="14" type="subTitle"/>
          </p:nvPr>
        </p:nvSpPr>
        <p:spPr>
          <a:xfrm>
            <a:off x="3381406" y="2803098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2" name="Google Shape;102;p20"/>
          <p:cNvSpPr txBox="1"/>
          <p:nvPr>
            <p:ph idx="15" type="subTitle"/>
          </p:nvPr>
        </p:nvSpPr>
        <p:spPr>
          <a:xfrm>
            <a:off x="6037972" y="2803098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5" name="Google Shape;105;p21"/>
          <p:cNvSpPr txBox="1"/>
          <p:nvPr>
            <p:ph type="title"/>
          </p:nvPr>
        </p:nvSpPr>
        <p:spPr>
          <a:xfrm>
            <a:off x="713257" y="539500"/>
            <a:ext cx="2836800" cy="7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 sz="5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" type="subTitle"/>
          </p:nvPr>
        </p:nvSpPr>
        <p:spPr>
          <a:xfrm>
            <a:off x="713225" y="1325575"/>
            <a:ext cx="28368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/>
        </p:nvSpPr>
        <p:spPr>
          <a:xfrm>
            <a:off x="5004275" y="3649552"/>
            <a:ext cx="342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0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2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3" title="techstartup-osc1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transition spd="med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idx="1" type="subTitle"/>
          </p:nvPr>
        </p:nvSpPr>
        <p:spPr>
          <a:xfrm>
            <a:off x="4299050" y="3636100"/>
            <a:ext cx="4350900" cy="6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AI-Powered Student Performance Monitoring &amp; Early-Warning System</a:t>
            </a:r>
            <a:endParaRPr/>
          </a:p>
        </p:txBody>
      </p:sp>
      <p:cxnSp>
        <p:nvCxnSpPr>
          <p:cNvPr id="117" name="Google Shape;117;p24"/>
          <p:cNvCxnSpPr/>
          <p:nvPr/>
        </p:nvCxnSpPr>
        <p:spPr>
          <a:xfrm flipH="1" rot="10800000">
            <a:off x="746750" y="4800275"/>
            <a:ext cx="8929500" cy="2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8" name="Google Shape;118;p24" title="studistic-high-resolution-logo-transparen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275" y="436075"/>
            <a:ext cx="3157200" cy="10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4" title="studistic-high-resolution-logo-transparent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700" y="4629625"/>
            <a:ext cx="408650" cy="36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/>
        </p:nvSpPr>
        <p:spPr>
          <a:xfrm>
            <a:off x="720000" y="1826538"/>
            <a:ext cx="71772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The Problem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25" name="Google Shape;125;p25"/>
          <p:cNvSpPr txBox="1"/>
          <p:nvPr>
            <p:ph type="title"/>
          </p:nvPr>
        </p:nvSpPr>
        <p:spPr>
          <a:xfrm>
            <a:off x="720000" y="107001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Syne SemiBold"/>
                <a:ea typeface="Syne SemiBold"/>
                <a:cs typeface="Syne SemiBold"/>
                <a:sym typeface="Syne SemiBold"/>
              </a:rPr>
              <a:t>Problem Statement</a:t>
            </a:r>
            <a:endParaRPr b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sp>
        <p:nvSpPr>
          <p:cNvPr id="126" name="Google Shape;126;p25"/>
          <p:cNvSpPr txBox="1"/>
          <p:nvPr/>
        </p:nvSpPr>
        <p:spPr>
          <a:xfrm>
            <a:off x="720000" y="2380263"/>
            <a:ext cx="5693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Academic underperformance detected too late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Evaluation depends on final grades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Many influencing factors ignored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No early warning mechanism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/>
        </p:nvSpPr>
        <p:spPr>
          <a:xfrm>
            <a:off x="720000" y="1826550"/>
            <a:ext cx="71772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Why Early Prediction is Important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32" name="Google Shape;132;p26"/>
          <p:cNvSpPr txBox="1"/>
          <p:nvPr>
            <p:ph idx="4294967295" type="title"/>
          </p:nvPr>
        </p:nvSpPr>
        <p:spPr>
          <a:xfrm>
            <a:off x="720000" y="107001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Syne SemiBold"/>
                <a:ea typeface="Syne SemiBold"/>
                <a:cs typeface="Syne SemiBold"/>
                <a:sym typeface="Syne SemiBold"/>
              </a:rPr>
              <a:t>Why Prediction Matters</a:t>
            </a:r>
            <a:endParaRPr b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sp>
        <p:nvSpPr>
          <p:cNvPr id="133" name="Google Shape;133;p26"/>
          <p:cNvSpPr txBox="1"/>
          <p:nvPr/>
        </p:nvSpPr>
        <p:spPr>
          <a:xfrm>
            <a:off x="720000" y="2380275"/>
            <a:ext cx="5693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Early identification of at-risk students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Enables timely academic intervention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Supports personalized guidance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Improves educational outcomes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/>
        </p:nvSpPr>
        <p:spPr>
          <a:xfrm>
            <a:off x="720000" y="1131475"/>
            <a:ext cx="71772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System Architecture Overview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39" name="Google Shape;139;p27"/>
          <p:cNvSpPr txBox="1"/>
          <p:nvPr>
            <p:ph type="title"/>
          </p:nvPr>
        </p:nvSpPr>
        <p:spPr>
          <a:xfrm>
            <a:off x="720000" y="3763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</a:t>
            </a:r>
            <a:endParaRPr b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sp>
        <p:nvSpPr>
          <p:cNvPr id="140" name="Google Shape;140;p27"/>
          <p:cNvSpPr txBox="1"/>
          <p:nvPr>
            <p:ph idx="4294967295" type="body"/>
          </p:nvPr>
        </p:nvSpPr>
        <p:spPr>
          <a:xfrm>
            <a:off x="1575150" y="4166950"/>
            <a:ext cx="5993700" cy="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→ Web Application → Backend API → Machine Learning Model → Supabase</a:t>
            </a:r>
            <a:endParaRPr/>
          </a:p>
        </p:txBody>
      </p:sp>
      <p:pic>
        <p:nvPicPr>
          <p:cNvPr id="141" name="Google Shape;141;p27" title="diagram-export-2-8-2026-6_46_53-PM.png"/>
          <p:cNvPicPr preferRelativeResize="0"/>
          <p:nvPr/>
        </p:nvPicPr>
        <p:blipFill rotWithShape="1">
          <a:blip r:embed="rId3">
            <a:alphaModFix/>
          </a:blip>
          <a:srcRect b="24545" l="2279" r="1139" t="5021"/>
          <a:stretch/>
        </p:blipFill>
        <p:spPr>
          <a:xfrm>
            <a:off x="546788" y="1786400"/>
            <a:ext cx="8050425" cy="198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/>
        </p:nvSpPr>
        <p:spPr>
          <a:xfrm>
            <a:off x="720000" y="1826550"/>
            <a:ext cx="71772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Main System Components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47" name="Google Shape;147;p28"/>
          <p:cNvSpPr txBox="1"/>
          <p:nvPr>
            <p:ph type="title"/>
          </p:nvPr>
        </p:nvSpPr>
        <p:spPr>
          <a:xfrm>
            <a:off x="720000" y="107001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Syne SemiBold"/>
                <a:ea typeface="Syne SemiBold"/>
                <a:cs typeface="Syne SemiBold"/>
                <a:sym typeface="Syne SemiBold"/>
              </a:rPr>
              <a:t>System Components</a:t>
            </a:r>
            <a:endParaRPr b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sp>
        <p:nvSpPr>
          <p:cNvPr id="148" name="Google Shape;148;p28"/>
          <p:cNvSpPr txBox="1"/>
          <p:nvPr/>
        </p:nvSpPr>
        <p:spPr>
          <a:xfrm>
            <a:off x="720000" y="2380275"/>
            <a:ext cx="5693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Web Application (Frontend)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Backend API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Machine Learning Model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Supabase (Database &amp; Authentication)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9" title="diagram-export-2-8-2026-8_20_58-PM.png"/>
          <p:cNvPicPr preferRelativeResize="0"/>
          <p:nvPr/>
        </p:nvPicPr>
        <p:blipFill rotWithShape="1">
          <a:blip r:embed="rId3">
            <a:alphaModFix/>
          </a:blip>
          <a:srcRect b="15745" l="2904" r="2497" t="3341"/>
          <a:stretch/>
        </p:blipFill>
        <p:spPr>
          <a:xfrm>
            <a:off x="3308000" y="882000"/>
            <a:ext cx="5562275" cy="34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9"/>
          <p:cNvSpPr txBox="1"/>
          <p:nvPr>
            <p:ph idx="4294967295" type="title"/>
          </p:nvPr>
        </p:nvSpPr>
        <p:spPr>
          <a:xfrm>
            <a:off x="231800" y="10939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Syne SemiBold"/>
                <a:ea typeface="Syne SemiBold"/>
                <a:cs typeface="Syne SemiBold"/>
                <a:sym typeface="Syne SemiBold"/>
              </a:rPr>
              <a:t>Data Flow</a:t>
            </a:r>
            <a:endParaRPr b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sp>
        <p:nvSpPr>
          <p:cNvPr id="155" name="Google Shape;155;p29"/>
          <p:cNvSpPr txBox="1"/>
          <p:nvPr/>
        </p:nvSpPr>
        <p:spPr>
          <a:xfrm>
            <a:off x="231800" y="1833138"/>
            <a:ext cx="21651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Student logs in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Data sent to backend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Features passed to ML model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Prediction generated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Results stored &amp; displayed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idx="4294967295" type="title"/>
          </p:nvPr>
        </p:nvSpPr>
        <p:spPr>
          <a:xfrm>
            <a:off x="303125" y="433388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Syne SemiBold"/>
                <a:ea typeface="Syne SemiBold"/>
                <a:cs typeface="Syne SemiBold"/>
                <a:sym typeface="Syne SemiBold"/>
              </a:rPr>
              <a:t>Database Design</a:t>
            </a:r>
            <a:endParaRPr b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sp>
        <p:nvSpPr>
          <p:cNvPr id="161" name="Google Shape;161;p30"/>
          <p:cNvSpPr txBox="1"/>
          <p:nvPr/>
        </p:nvSpPr>
        <p:spPr>
          <a:xfrm>
            <a:off x="303125" y="1748825"/>
            <a:ext cx="2420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Users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Student_Features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Predictions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Grades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62" name="Google Shape;162;p30" title="diagram-export-2-8-2026-8_31_03-PM.png"/>
          <p:cNvPicPr preferRelativeResize="0"/>
          <p:nvPr/>
        </p:nvPicPr>
        <p:blipFill rotWithShape="1">
          <a:blip r:embed="rId3">
            <a:alphaModFix/>
          </a:blip>
          <a:srcRect b="7433" l="0" r="0" t="0"/>
          <a:stretch/>
        </p:blipFill>
        <p:spPr>
          <a:xfrm>
            <a:off x="5285375" y="139487"/>
            <a:ext cx="3204026" cy="480457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0"/>
          <p:cNvSpPr txBox="1"/>
          <p:nvPr/>
        </p:nvSpPr>
        <p:spPr>
          <a:xfrm>
            <a:off x="303125" y="3772000"/>
            <a:ext cx="33780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system uses a centralized relational database managed by Supabase to store user information, academic features, machine learning predictions, and course grades.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/>
        </p:nvSpPr>
        <p:spPr>
          <a:xfrm>
            <a:off x="720000" y="1026250"/>
            <a:ext cx="71772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Models Evaluated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69" name="Google Shape;169;p31"/>
          <p:cNvSpPr txBox="1"/>
          <p:nvPr>
            <p:ph type="title"/>
          </p:nvPr>
        </p:nvSpPr>
        <p:spPr>
          <a:xfrm>
            <a:off x="720000" y="283988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Models</a:t>
            </a:r>
            <a:endParaRPr b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sp>
        <p:nvSpPr>
          <p:cNvPr id="170" name="Google Shape;170;p31"/>
          <p:cNvSpPr txBox="1"/>
          <p:nvPr/>
        </p:nvSpPr>
        <p:spPr>
          <a:xfrm>
            <a:off x="720000" y="1602738"/>
            <a:ext cx="56937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Linear Regression</a:t>
            </a:r>
            <a:br>
              <a:rPr lang="en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Random Forest Regressor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Artificial Neural Network (ANN)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1" name="Google Shape;171;p31"/>
          <p:cNvSpPr txBox="1"/>
          <p:nvPr/>
        </p:nvSpPr>
        <p:spPr>
          <a:xfrm>
            <a:off x="758250" y="3107813"/>
            <a:ext cx="71772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Evaluation Metrics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72" name="Google Shape;172;p31"/>
          <p:cNvSpPr txBox="1"/>
          <p:nvPr/>
        </p:nvSpPr>
        <p:spPr>
          <a:xfrm>
            <a:off x="893800" y="3751300"/>
            <a:ext cx="5693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R²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RMSE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MAE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/>
        </p:nvSpPr>
        <p:spPr>
          <a:xfrm>
            <a:off x="720000" y="1826550"/>
            <a:ext cx="71772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Why Linear Regression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78" name="Google Shape;178;p32"/>
          <p:cNvSpPr txBox="1"/>
          <p:nvPr>
            <p:ph type="title"/>
          </p:nvPr>
        </p:nvSpPr>
        <p:spPr>
          <a:xfrm>
            <a:off x="720000" y="107001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Syne SemiBold"/>
                <a:ea typeface="Syne SemiBold"/>
                <a:cs typeface="Syne SemiBold"/>
                <a:sym typeface="Syne SemiBold"/>
              </a:rPr>
              <a:t>Model Selection</a:t>
            </a:r>
            <a:endParaRPr b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sp>
        <p:nvSpPr>
          <p:cNvPr id="179" name="Google Shape;179;p32"/>
          <p:cNvSpPr txBox="1"/>
          <p:nvPr/>
        </p:nvSpPr>
        <p:spPr>
          <a:xfrm>
            <a:off x="720000" y="2380275"/>
            <a:ext cx="5693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Strong predictive performance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Stable on unseen data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High interpretability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Suitable for explainable education systems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/>
        </p:nvSpPr>
        <p:spPr>
          <a:xfrm>
            <a:off x="720000" y="1210900"/>
            <a:ext cx="71772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Prediction Interpretation - Risk Levels: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85" name="Google Shape;185;p33"/>
          <p:cNvSpPr txBox="1"/>
          <p:nvPr>
            <p:ph type="title"/>
          </p:nvPr>
        </p:nvSpPr>
        <p:spPr>
          <a:xfrm>
            <a:off x="720000" y="468638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Classification &amp; Explainability</a:t>
            </a:r>
            <a:endParaRPr b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sp>
        <p:nvSpPr>
          <p:cNvPr id="186" name="Google Shape;186;p33"/>
          <p:cNvSpPr txBox="1"/>
          <p:nvPr/>
        </p:nvSpPr>
        <p:spPr>
          <a:xfrm>
            <a:off x="720000" y="1787388"/>
            <a:ext cx="5693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High Performer (≥ 75)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Medium Risk (60–74)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At Risk (&lt; 60)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" name="Google Shape;187;p33"/>
          <p:cNvSpPr txBox="1"/>
          <p:nvPr/>
        </p:nvSpPr>
        <p:spPr>
          <a:xfrm>
            <a:off x="758250" y="3292463"/>
            <a:ext cx="71772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Explainability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88" name="Google Shape;188;p33"/>
          <p:cNvSpPr txBox="1"/>
          <p:nvPr/>
        </p:nvSpPr>
        <p:spPr>
          <a:xfrm>
            <a:off x="886650" y="3905350"/>
            <a:ext cx="5693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SHAP explains feature impact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Transparent predictions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/>
        </p:nvSpPr>
        <p:spPr>
          <a:xfrm>
            <a:off x="720000" y="1592625"/>
            <a:ext cx="71772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Student Dashboard Features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94" name="Google Shape;194;p34"/>
          <p:cNvSpPr txBox="1"/>
          <p:nvPr>
            <p:ph type="title"/>
          </p:nvPr>
        </p:nvSpPr>
        <p:spPr>
          <a:xfrm>
            <a:off x="720000" y="85036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Application Features</a:t>
            </a:r>
            <a:endParaRPr b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sp>
        <p:nvSpPr>
          <p:cNvPr id="195" name="Google Shape;195;p34"/>
          <p:cNvSpPr txBox="1"/>
          <p:nvPr/>
        </p:nvSpPr>
        <p:spPr>
          <a:xfrm>
            <a:off x="720000" y="2169113"/>
            <a:ext cx="56937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Performance dashboard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Task &amp; study management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Grades tracking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Feature contribution analysis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Peer comparison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idx="4294967295" type="title"/>
          </p:nvPr>
        </p:nvSpPr>
        <p:spPr>
          <a:xfrm>
            <a:off x="720000" y="12048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 b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  <p:sp>
        <p:nvSpPr>
          <p:cNvPr id="201" name="Google Shape;201;p35"/>
          <p:cNvSpPr txBox="1"/>
          <p:nvPr/>
        </p:nvSpPr>
        <p:spPr>
          <a:xfrm>
            <a:off x="720000" y="2245400"/>
            <a:ext cx="5693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Early detection of academic risk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Explainable machine learning predictions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Data-driven student support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Scalable and practical solution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6"/>
          <p:cNvSpPr txBox="1"/>
          <p:nvPr>
            <p:ph type="title"/>
          </p:nvPr>
        </p:nvSpPr>
        <p:spPr>
          <a:xfrm>
            <a:off x="746757" y="1165000"/>
            <a:ext cx="2836800" cy="7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207" name="Google Shape;207;p36"/>
          <p:cNvSpPr txBox="1"/>
          <p:nvPr>
            <p:ph idx="4294967295" type="subTitle"/>
          </p:nvPr>
        </p:nvSpPr>
        <p:spPr>
          <a:xfrm>
            <a:off x="746750" y="2336300"/>
            <a:ext cx="3460200" cy="16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Do you have any questions?</a:t>
            </a:r>
            <a:endParaRPr b="1"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| Amr Khalid</a:t>
            </a:r>
            <a:br>
              <a:rPr lang="en" sz="1700"/>
            </a:br>
            <a:r>
              <a:rPr lang="en" sz="1700"/>
              <a:t>| Hossam Hussein</a:t>
            </a:r>
            <a:br>
              <a:rPr lang="en" sz="1700"/>
            </a:br>
            <a:r>
              <a:rPr lang="en" sz="1700"/>
              <a:t>| Shimaa Eid</a:t>
            </a:r>
            <a:br>
              <a:rPr lang="en" sz="1700"/>
            </a:br>
            <a:r>
              <a:rPr lang="en" sz="1700"/>
              <a:t>| Seham Sayed</a:t>
            </a:r>
            <a:endParaRPr sz="1700"/>
          </a:p>
        </p:txBody>
      </p:sp>
      <p:cxnSp>
        <p:nvCxnSpPr>
          <p:cNvPr id="208" name="Google Shape;208;p36"/>
          <p:cNvCxnSpPr/>
          <p:nvPr/>
        </p:nvCxnSpPr>
        <p:spPr>
          <a:xfrm flipH="1" rot="10800000">
            <a:off x="746750" y="4800275"/>
            <a:ext cx="8929500" cy="2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09" name="Google Shape;209;p36" title="studistic-high-resolution-logo-transparent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00" y="4629625"/>
            <a:ext cx="408650" cy="36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6" title="studistic-high-resolution-logo-transparent (1).png"/>
          <p:cNvPicPr preferRelativeResize="0"/>
          <p:nvPr/>
        </p:nvPicPr>
        <p:blipFill>
          <a:blip r:embed="rId4">
            <a:alphaModFix amt="6000"/>
          </a:blip>
          <a:stretch>
            <a:fillRect/>
          </a:stretch>
        </p:blipFill>
        <p:spPr>
          <a:xfrm>
            <a:off x="3516825" y="2778763"/>
            <a:ext cx="5513050" cy="176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